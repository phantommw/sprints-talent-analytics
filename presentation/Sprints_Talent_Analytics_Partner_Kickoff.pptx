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80960" y="0"/>
            <a:ext cx="4510735" cy="6858000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83879" y="502920"/>
            <a:ext cx="3337560" cy="5852160"/>
          </a:xfrm>
          <a:prstGeom prst="roundRect">
            <a:avLst>
              <a:gd name="adj" fmla="val 12000"/>
            </a:avLst>
          </a:prstGeom>
          <a:solidFill>
            <a:srgbClr val="122D43"/>
          </a:solidFill>
          <a:ln>
            <a:solidFill>
              <a:srgbClr val="12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8580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EF5F1"/>
                </a:solidFill>
                <a:latin typeface="Aptos"/>
              </a:rPr>
              <a:t>SPRINTS TALENT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667512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Aptos"/>
              </a:rPr>
              <a:t>Partner Kickoff
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6217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EF5F1"/>
                </a:solidFill>
                <a:latin typeface="Aptos"/>
              </a:rPr>
              <a:t>Advanced Data Analysis Capstone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40480"/>
            <a:ext cx="1005840" cy="54864"/>
          </a:xfrm>
          <a:prstGeom prst="rect">
            <a:avLst/>
          </a:prstGeom>
          <a:solidFill>
            <a:srgbClr val="DAA449"/>
          </a:solidFill>
          <a:ln>
            <a:solidFill>
              <a:srgbClr val="DA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63093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Aptos"/>
              </a:rPr>
              <a:t>Learner performance • Data quality • Feature engineering • Employer skills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DEF5F1"/>
                </a:solidFill>
                <a:latin typeface="Aptos"/>
              </a:rPr>
              <a:t>Project findings and delivery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01 /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D43"/>
                </a:solidFill>
                <a:latin typeface="Aptos"/>
              </a:rPr>
              <a:t>What this project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684"/>
                </a:solidFill>
                <a:latin typeface="Aptos"/>
              </a:rPr>
              <a:t>A reproducible Python-first analytics workflow built from learner and employer-provided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685800" cy="41148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71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47684"/>
                </a:solidFill>
                <a:latin typeface="Aptos"/>
              </a:rPr>
              <a:t>Sprints Talent Analytics  •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10835640" cy="786384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0918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130552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D43"/>
                </a:solidFill>
                <a:latin typeface="Aptos"/>
              </a:rPr>
              <a:t>Prepare reliable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121408"/>
            <a:ext cx="7086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3645"/>
                </a:solidFill>
                <a:latin typeface="Aptos"/>
              </a:rPr>
              <a:t>Repair structural CSV issues, remove exact duplicates, validate values, and preserve justified missingness.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99232"/>
            <a:ext cx="10835640" cy="786384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63824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0918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18104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D43"/>
                </a:solidFill>
                <a:latin typeface="Aptos"/>
              </a:rPr>
              <a:t>Understand learner outcomes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3108960"/>
            <a:ext cx="7086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3645"/>
                </a:solidFill>
                <a:latin typeface="Aptos"/>
              </a:rPr>
              <a:t>Summarize assessment distributions and available observations without overstating the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86784"/>
            <a:ext cx="10835640" cy="786384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151376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0918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05656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D43"/>
                </a:solidFill>
                <a:latin typeface="Aptos"/>
              </a:rPr>
              <a:t>Engineer useful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4096512"/>
            <a:ext cx="7086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3645"/>
                </a:solidFill>
                <a:latin typeface="Aptos"/>
              </a:rPr>
              <a:t>Add learner-level score summaries, completeness indicators, enrollment year, and graduation duration.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974336"/>
            <a:ext cx="10835640" cy="786384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13892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0918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9320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D43"/>
                </a:solidFill>
                <a:latin typeface="Aptos"/>
              </a:rPr>
              <a:t>Surface employer skill 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5084064"/>
            <a:ext cx="7086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53645"/>
                </a:solidFill>
                <a:latin typeface="Aptos"/>
              </a:rPr>
              <a:t>Count skill mentions across the 50 supplied role records and report role-level thresholds.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02 / DATA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D43"/>
                </a:solidFill>
                <a:latin typeface="Aptos"/>
              </a:rPr>
              <a:t>The evidence base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684"/>
                </a:solidFill>
                <a:latin typeface="Aptos"/>
              </a:rPr>
              <a:t>Learner outcomes and employer role requirements are analyzed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685800" cy="41148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71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47684"/>
                </a:solidFill>
                <a:latin typeface="Aptos"/>
              </a:rPr>
              <a:t>Sprints Talent Analytics  •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73152" cy="1417320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30815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CLEAN LEARNER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308152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27248"/>
            <a:ext cx="30815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26 input rows; 2 exact duplicates removed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73152" cy="1417320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221992"/>
            <a:ext cx="30815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EMPLOYER ROLE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32888"/>
            <a:ext cx="308152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127248"/>
            <a:ext cx="30815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50 unique role 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57400"/>
            <a:ext cx="3429000" cy="141732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057400"/>
            <a:ext cx="73152" cy="1417320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21992"/>
            <a:ext cx="30815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DISTINCT REQUIRED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532888"/>
            <a:ext cx="308152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127248"/>
            <a:ext cx="30815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Across the provided roles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86200"/>
            <a:ext cx="5257800" cy="196596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33087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LEARNER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4709160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18 columns in cleaned data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3 training tracks and 9 cohorts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23 columns after feature engineering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886200"/>
            <a:ext cx="5257800" cy="196596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133087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EMPLOYER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80560"/>
            <a:ext cx="4709160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Role title, industry, tier, and required skills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Assessment thresholds and priority weights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No validated learner-to-skill mapping supplied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03 /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D43"/>
                </a:solidFill>
                <a:latin typeface="Aptos"/>
              </a:rPr>
              <a:t>Cleaning decisions are documented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684"/>
                </a:solidFill>
                <a:latin typeface="Aptos"/>
              </a:rPr>
              <a:t>The original source CSV remains unchanged; cleaning outputs are written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685800" cy="41148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71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47684"/>
                </a:solidFill>
                <a:latin typeface="Aptos"/>
              </a:rPr>
              <a:t>Sprints Talent Analytics  •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2606040" cy="128016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11680"/>
            <a:ext cx="73152" cy="1280160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76272"/>
            <a:ext cx="2258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INPUT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87168"/>
            <a:ext cx="22585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44368"/>
            <a:ext cx="22585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Before deduplication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011680"/>
            <a:ext cx="2606040" cy="128016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2011680"/>
            <a:ext cx="73152" cy="1280160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176272"/>
            <a:ext cx="2258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OUTPUT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487168"/>
            <a:ext cx="22585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944368"/>
            <a:ext cx="22585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After exact deduplication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11680"/>
            <a:ext cx="2606040" cy="128016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011680"/>
            <a:ext cx="73152" cy="1280160"/>
          </a:xfrm>
          <a:prstGeom prst="rect">
            <a:avLst/>
          </a:prstGeom>
          <a:solidFill>
            <a:srgbClr val="DAA449"/>
          </a:solidFill>
          <a:ln>
            <a:solidFill>
              <a:srgbClr val="DA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176272"/>
            <a:ext cx="2258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STRUCTURAL REPAIRS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487168"/>
            <a:ext cx="22585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944368"/>
            <a:ext cx="22585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Trailing empty field repaired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2011680"/>
            <a:ext cx="2606040" cy="128016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2011680"/>
            <a:ext cx="73152" cy="1280160"/>
          </a:xfrm>
          <a:prstGeom prst="rect">
            <a:avLst/>
          </a:prstGeom>
          <a:solidFill>
            <a:srgbClr val="B44C41"/>
          </a:solidFill>
          <a:ln>
            <a:solidFill>
              <a:srgbClr val="B44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176272"/>
            <a:ext cx="22585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INVALID 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487168"/>
            <a:ext cx="22585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2944368"/>
            <a:ext cx="22585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Converted to missing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22D43"/>
                </a:solidFill>
                <a:latin typeface="Aptos"/>
              </a:rPr>
              <a:t>Key handling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24528"/>
            <a:ext cx="10607040" cy="1691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53645"/>
                </a:solidFill>
                <a:latin typeface="Aptos"/>
              </a:defRPr>
            </a:pPr>
            <a:r>
              <a:t>Exact duplicate rows removed; one occurrence retained.</a:t>
            </a:r>
          </a:p>
          <a:p>
            <a:pPr>
              <a:spcAft>
                <a:spcPts val="800"/>
              </a:spcAft>
              <a:defRPr sz="1500">
                <a:solidFill>
                  <a:srgbClr val="253645"/>
                </a:solidFill>
                <a:latin typeface="Aptos"/>
              </a:defRPr>
            </a:pPr>
            <a:r>
              <a:t>Assessment columns converted to numeric values.</a:t>
            </a:r>
          </a:p>
          <a:p>
            <a:pPr>
              <a:spcAft>
                <a:spcPts val="800"/>
              </a:spcAft>
              <a:defRPr sz="1500">
                <a:solidFill>
                  <a:srgbClr val="253645"/>
                </a:solidFill>
                <a:latin typeface="Aptos"/>
              </a:defRPr>
            </a:pPr>
            <a:r>
              <a:t>Missing scores and dates preserved—no unjustified imputation.</a:t>
            </a:r>
          </a:p>
          <a:p>
            <a:pPr>
              <a:spcAft>
                <a:spcPts val="800"/>
              </a:spcAft>
              <a:defRPr sz="1500">
                <a:solidFill>
                  <a:srgbClr val="253645"/>
                </a:solidFill>
                <a:latin typeface="Aptos"/>
              </a:defRPr>
            </a:pPr>
            <a:r>
              <a:t>Engagement range of 0–100 is provisional and must be confirmed with the data owner.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04 / LEARNER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D43"/>
                </a:solidFill>
                <a:latin typeface="Aptos"/>
              </a:rPr>
              <a:t>Assessment results are descriptive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684"/>
                </a:solidFill>
                <a:latin typeface="Aptos"/>
              </a:rPr>
              <a:t>Means and medians use available numeric values; valid counts differ by assessment.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685800" cy="41148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71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47684"/>
                </a:solidFill>
                <a:latin typeface="Aptos"/>
              </a:rPr>
              <a:t>Sprints Talent Analytics  •  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965960"/>
          <a:ext cx="67208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43000"/>
                <a:gridCol w="1234440"/>
                <a:gridCol w="1508760"/>
              </a:tblGrid>
              <a:tr h="3305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Assessment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Median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Valid scores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Engagement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73.95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82.00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1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79.58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85.00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2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79.09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83.00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3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80.30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85.00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23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4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80.12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84.50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24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5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85.18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88.50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6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85.29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86.00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7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82.68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85.50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22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8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84.95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88.00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9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86.52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91.00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3059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 10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86.24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89.00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3060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Capstone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86.05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88.00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21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26679" y="2103120"/>
            <a:ext cx="3749039" cy="150876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2359152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HIGHEST MODULE 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724912"/>
            <a:ext cx="3200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22D43"/>
                </a:solidFill>
                <a:latin typeface="Aptos"/>
              </a:rPr>
              <a:t>Module 9  •  86.52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794760"/>
            <a:ext cx="3749039" cy="150876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4050791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47684"/>
                </a:solidFill>
                <a:latin typeface="Aptos"/>
              </a:rPr>
              <a:t>LOWEST MODULE 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4416552"/>
            <a:ext cx="32004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22D43"/>
                </a:solidFill>
                <a:latin typeface="Aptos"/>
              </a:rPr>
              <a:t>Module 2  •  79.09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559552"/>
            <a:ext cx="3657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44C41"/>
                </a:solidFill>
                <a:latin typeface="Aptos"/>
              </a:rPr>
              <a:t>Do not infer learning progression without comparable assessment difficulty and grading 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05 /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D43"/>
                </a:solidFill>
                <a:latin typeface="Aptos"/>
              </a:rPr>
              <a:t>Five derived features extend the learner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684"/>
                </a:solidFill>
                <a:latin typeface="Aptos"/>
              </a:rPr>
              <a:t>The engineered dataset contains 24 records and 23 columns, with no duplicate rows in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685800" cy="41148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71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47684"/>
                </a:solidFill>
                <a:latin typeface="Aptos"/>
              </a:rPr>
              <a:t>Sprints Talent Analytics  •  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148840"/>
          <a:ext cx="10835639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4663440"/>
                <a:gridCol w="3749039"/>
              </a:tblGrid>
              <a:tr h="5257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Observed result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average_module_score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Mean of available module scores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Min 41.25 • Max 97.10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module_score_count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Number of non-missing module scores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4 to 10 scores per learner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module_score_std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Sample standard deviation of module scores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0 missing values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enrollment_year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Year extracted from enrollment date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2023 for all 24 records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days_to_graduation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Days from enrollment to graduation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186 to 192 days; 2 missing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532120"/>
            <a:ext cx="10835640" cy="658368"/>
          </a:xfrm>
          <a:prstGeom prst="roundRect">
            <a:avLst>
              <a:gd name="adj" fmla="val 12000"/>
            </a:avLst>
          </a:prstGeom>
          <a:solidFill>
            <a:srgbClr val="FFF7E6"/>
          </a:solidFill>
          <a:ln>
            <a:solidFill>
              <a:srgbClr val="FF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87568"/>
            <a:ext cx="10332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53645"/>
                </a:solidFill>
                <a:latin typeface="Aptos"/>
              </a:rPr>
              <a:t>Important limitation: module scores do not directly identify individual employer-required skills. No validated skill mapping was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06 / EMPLOYER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D43"/>
                </a:solidFill>
                <a:latin typeface="Aptos"/>
              </a:rPr>
              <a:t>Python leads the supplied role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684"/>
                </a:solidFill>
                <a:latin typeface="Aptos"/>
              </a:rPr>
              <a:t>Skill frequency means the number of provided role records that list a skill—not market-wide demand.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685800" cy="41148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71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47684"/>
                </a:solidFill>
                <a:latin typeface="Aptos"/>
              </a:rPr>
              <a:t>Sprints Talent Analytics  •  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057400"/>
          <a:ext cx="55778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926080"/>
                <a:gridCol w="1737360"/>
              </a:tblGrid>
              <a:tr h="35744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Rank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Skill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records</a:t>
                      </a:r>
                    </a:p>
                  </a:txBody>
                  <a:tcPr marL="82296" marR="64008" marT="36576" marB="27432" anchor="ctr">
                    <a:solidFill>
                      <a:srgbClr val="122D43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Python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Pandas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SQL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Data Visualization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Machine Learning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NumPy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7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Statistics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Matplotlib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Plotly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82296" marR="64008" marT="36576" marB="27432" anchor="ctr">
                    <a:solidFill>
                      <a:srgbClr val="FFFFFF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10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Tableau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53645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82296" marR="64008" marT="36576" marB="27432" anchor="ctr">
                    <a:solidFill>
                      <a:srgbClr val="F2F7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2148840"/>
            <a:ext cx="2057400" cy="132588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2148840"/>
            <a:ext cx="73152" cy="1325880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7" y="2313432"/>
            <a:ext cx="17099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ROLE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22007" y="2624328"/>
            <a:ext cx="170992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7" y="3127248"/>
            <a:ext cx="170992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50 unique role 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14884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2148840"/>
            <a:ext cx="73152" cy="1325880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2313432"/>
            <a:ext cx="20299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647684"/>
                </a:solidFill>
                <a:latin typeface="Aptos"/>
              </a:rPr>
              <a:t>MEAN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2624328"/>
            <a:ext cx="2029968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22D43"/>
                </a:solidFill>
                <a:latin typeface="Aptos"/>
              </a:rPr>
              <a:t>83.06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3127248"/>
            <a:ext cx="2029968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684"/>
                </a:solidFill>
                <a:latin typeface="Aptos"/>
              </a:rPr>
              <a:t>Range: 70–97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794760"/>
            <a:ext cx="4663440" cy="160020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4041648"/>
            <a:ext cx="4023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2D43"/>
                </a:solidFill>
                <a:latin typeface="Aptos"/>
              </a:rPr>
              <a:t>Company tier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52628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53645"/>
                </a:solidFill>
                <a:latin typeface="Aptos"/>
              </a:rPr>
              <a:t>Tier 1: 20     •     Tier 2: 19     •     Tier 3: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62356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47684"/>
                </a:solidFill>
                <a:latin typeface="Aptos"/>
              </a:rPr>
              <a:t>Counts reflect only the employer requirements file supplied for this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0918F"/>
                </a:solidFill>
                <a:latin typeface="Aptos"/>
              </a:rPr>
              <a:t>07 /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22D43"/>
                </a:solidFill>
                <a:latin typeface="Aptos"/>
              </a:rPr>
              <a:t>What the evidence supports—and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47684"/>
                </a:solidFill>
                <a:latin typeface="Aptos"/>
              </a:rPr>
              <a:t>Use findings to guide discussion, not to make unsupported claims about individual proficiency.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46504"/>
            <a:ext cx="685800" cy="41148"/>
          </a:xfrm>
          <a:prstGeom prst="rect">
            <a:avLst/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6510528"/>
            <a:ext cx="29718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47684"/>
                </a:solidFill>
                <a:latin typeface="Aptos"/>
              </a:rPr>
              <a:t>Sprints Talent Analytics  •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257800" cy="3611880"/>
          </a:xfrm>
          <a:prstGeom prst="roundRect">
            <a:avLst>
              <a:gd name="adj" fmla="val 12000"/>
            </a:avLst>
          </a:prstGeom>
          <a:solidFill>
            <a:srgbClr val="DEF5F1"/>
          </a:solidFill>
          <a:ln>
            <a:solidFill>
              <a:srgbClr val="DEF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918F"/>
                </a:solidFill>
                <a:latin typeface="Aptos"/>
              </a:rPr>
              <a:t>SUPPORTED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572000" cy="2514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Advanced Data Analysis is the largest track in this sample (13 of 24).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Python appears in all 50 supplied employer role records.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Assessment completeness varies across modules.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Engagement–capstone correlation is 0.992 across 16 complete records; this does not establish causation.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257800" cy="3611880"/>
          </a:xfrm>
          <a:prstGeom prst="roundRect">
            <a:avLst>
              <a:gd name="adj" fmla="val 12000"/>
            </a:avLst>
          </a:prstGeom>
          <a:solidFill>
            <a:srgbClr val="F2F7FA"/>
          </a:solidFill>
          <a:ln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0918F"/>
                </a:solidFill>
                <a:latin typeface="Aptos"/>
              </a:rPr>
              <a:t>RECOMMENDED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572000" cy="2514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Confirm the engagement score range and assessment rules.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Investigate missing assessment and graduation fields.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Define and validate an assessment-to-skill mapping.</a:t>
            </a:r>
          </a:p>
          <a:p>
            <a:pPr>
              <a:spcAft>
                <a:spcPts val="800"/>
              </a:spcAft>
              <a:defRPr sz="1400">
                <a:solidFill>
                  <a:srgbClr val="253645"/>
                </a:solidFill>
                <a:latin typeface="Aptos"/>
              </a:defRPr>
            </a:pPr>
            <a:r>
              <a:t>Repeat analysis with larger cohorts and additional time periods.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EF5F1"/>
                </a:solidFill>
                <a:latin typeface="Aptos"/>
              </a:rPr>
              <a:t>SPRINTS TALENT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59436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Align. Validate.
Deliver.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42062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EF5F1"/>
                </a:solidFill>
                <a:latin typeface="Aptos"/>
              </a:rPr>
              <a:t>Proposed delivery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6400800" cy="2057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Confirm partner expectations and scoring definitions.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Review the interactive dashboard and analytical report.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Validate reproducibility and tests.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Publish the repository and record the project demo.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234440"/>
            <a:ext cx="3383280" cy="4480560"/>
          </a:xfrm>
          <a:prstGeom prst="roundRect">
            <a:avLst>
              <a:gd name="adj" fmla="val 12000"/>
            </a:avLst>
          </a:prstGeom>
          <a:solidFill>
            <a:srgbClr val="20918F"/>
          </a:solidFill>
          <a:ln>
            <a:solidFill>
              <a:srgbClr val="2091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EF5F1"/>
                </a:solidFill>
                <a:latin typeface="Aptos"/>
              </a:rPr>
              <a:t>PROJECT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48840"/>
            <a:ext cx="274320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Analytics
Dashboard
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160520"/>
            <a:ext cx="26974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Next: presentation review, demo, tests, GitHub, final submission.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55080"/>
            <a:ext cx="5943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DEF5F1"/>
                </a:solidFill>
                <a:latin typeface="Aptos"/>
              </a:rPr>
              <a:t>Sprints Advanced Data Analysis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